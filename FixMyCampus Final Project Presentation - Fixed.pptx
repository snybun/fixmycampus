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embeddedFontLst>
    <p:embeddedFont>
      <p:font typeface="DM Mono" panose="020B0509040201040103" pitchFamily="49" charset="0"/>
      <p:regular r:id="rId14"/>
    </p:embeddedFont>
    <p:embeddedFont>
      <p:font typeface="Plus Jakarta Sans"/>
      <p:bold r:id="rId15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3D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62000" y="4129087"/>
            <a:ext cx="609600" cy="38100"/>
          </a:xfrm>
          <a:prstGeom prst="rect">
            <a:avLst/>
          </a:prstGeom>
          <a:solidFill>
            <a:srgbClr val="7A9A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62000" y="2119312"/>
            <a:ext cx="11430000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7A9A8B"/>
                </a:solidFill>
                <a:latin typeface="DM Mono"/>
              </a:rPr>
              <a:t>FINAL PROJECT PRESENTATION • AY 2026–2027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2500312"/>
            <a:ext cx="10626328" cy="8191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5100" b="1" i="0" u="none">
                <a:solidFill>
                  <a:srgbClr val="FFFFFF"/>
                </a:solidFill>
                <a:latin typeface="Plus Jakarta Sans"/>
              </a:rPr>
              <a:t>FixMyCampus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3471862"/>
            <a:ext cx="10414000" cy="31432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950" b="0" i="0" u="none">
                <a:solidFill>
                  <a:srgbClr val="EBF2EE"/>
                </a:solidFill>
                <a:latin typeface="Plus Jakarta Sans"/>
              </a:rPr>
              <a:t>Facility Defect and Maintenance Reporting System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4510087"/>
            <a:ext cx="7874000" cy="2154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400" b="0" i="0" u="none" dirty="0">
                <a:solidFill>
                  <a:srgbClr val="DCE7E1"/>
                </a:solidFill>
                <a:latin typeface="DM Mono"/>
              </a:rPr>
              <a:t>BS Information Technology • BSIT2-01 • Group 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23900" y="2300287"/>
            <a:ext cx="3429000" cy="1466850"/>
          </a:xfrm>
          <a:prstGeom prst="roundRect">
            <a:avLst>
              <a:gd name="adj" fmla="val 9090"/>
            </a:avLst>
          </a:prstGeom>
          <a:solidFill>
            <a:srgbClr val="F8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381500" y="2300287"/>
            <a:ext cx="3429000" cy="1466850"/>
          </a:xfrm>
          <a:prstGeom prst="roundRect">
            <a:avLst>
              <a:gd name="adj" fmla="val 9090"/>
            </a:avLst>
          </a:prstGeom>
          <a:solidFill>
            <a:srgbClr val="F8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8039100" y="2300287"/>
            <a:ext cx="3429000" cy="1466850"/>
          </a:xfrm>
          <a:prstGeom prst="roundRect">
            <a:avLst>
              <a:gd name="adj" fmla="val 9090"/>
            </a:avLst>
          </a:prstGeom>
          <a:solidFill>
            <a:srgbClr val="F8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2552700" y="3995737"/>
            <a:ext cx="3429000" cy="1466850"/>
          </a:xfrm>
          <a:prstGeom prst="roundRect">
            <a:avLst>
              <a:gd name="adj" fmla="val 9090"/>
            </a:avLst>
          </a:prstGeom>
          <a:solidFill>
            <a:srgbClr val="F8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210300" y="3995737"/>
            <a:ext cx="3429000" cy="1466850"/>
          </a:xfrm>
          <a:prstGeom prst="roundRect">
            <a:avLst>
              <a:gd name="adj" fmla="val 9090"/>
            </a:avLst>
          </a:prstGeom>
          <a:solidFill>
            <a:srgbClr val="F8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71712" y="2566987"/>
            <a:ext cx="333375" cy="2667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62650" y="2566987"/>
            <a:ext cx="266700" cy="2667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86912" y="2566987"/>
            <a:ext cx="333375" cy="2667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33850" y="4262437"/>
            <a:ext cx="266700" cy="26670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24787" y="4262437"/>
            <a:ext cx="200025" cy="2667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7A9A8B"/>
                </a:solidFill>
                <a:latin typeface="DM Mono"/>
              </a:rPr>
              <a:t>01 • PROJECT TEAM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9600" y="704850"/>
            <a:ext cx="11582400" cy="4286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 u="none" dirty="0">
                <a:solidFill>
                  <a:srgbClr val="1A3D2F"/>
                </a:solidFill>
                <a:latin typeface="Plus Jakarta Sans"/>
              </a:rPr>
              <a:t>Group Composition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8156" y="2967037"/>
            <a:ext cx="3900487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500" b="1" i="0" u="none">
                <a:solidFill>
                  <a:srgbClr val="1A3D2F"/>
                </a:solidFill>
                <a:latin typeface="Plus Jakarta Sans"/>
              </a:rPr>
              <a:t>MANZON, JOSH MATTHEW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81025" y="3281362"/>
            <a:ext cx="3714750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350" b="0" i="0" u="none">
                <a:solidFill>
                  <a:srgbClr val="2C3E35"/>
                </a:solidFill>
                <a:latin typeface="Plus Jakarta Sans"/>
              </a:rPr>
              <a:t>Project Manager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45756" y="2967037"/>
            <a:ext cx="3900487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500" b="1" i="0" u="none">
                <a:solidFill>
                  <a:srgbClr val="1A3D2F"/>
                </a:solidFill>
                <a:latin typeface="Plus Jakarta Sans"/>
              </a:rPr>
              <a:t>CERNA, MARK DYVIE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38625" y="3281362"/>
            <a:ext cx="3714750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350" b="0" i="0" u="none">
                <a:solidFill>
                  <a:srgbClr val="2C3E35"/>
                </a:solidFill>
                <a:latin typeface="Plus Jakarta Sans"/>
              </a:rPr>
              <a:t>Lead Developer • DevOps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03356" y="2967037"/>
            <a:ext cx="3900487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500" b="1" i="0" u="none">
                <a:solidFill>
                  <a:srgbClr val="1A3D2F"/>
                </a:solidFill>
                <a:latin typeface="Plus Jakarta Sans"/>
              </a:rPr>
              <a:t>ROBOSA, RENDIL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96225" y="3281362"/>
            <a:ext cx="3714750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350" b="0" i="0" u="none">
                <a:solidFill>
                  <a:srgbClr val="2C3E35"/>
                </a:solidFill>
                <a:latin typeface="Plus Jakarta Sans"/>
              </a:rPr>
              <a:t>Developer • QA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316956" y="4662487"/>
            <a:ext cx="3900487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500" b="1" i="0" u="none">
                <a:solidFill>
                  <a:srgbClr val="1A3D2F"/>
                </a:solidFill>
                <a:latin typeface="Plus Jakarta Sans"/>
              </a:rPr>
              <a:t>VIRAY, KEITH TRAVIS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409825" y="4976812"/>
            <a:ext cx="3714750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350" b="0" i="0" u="none">
                <a:solidFill>
                  <a:srgbClr val="2C3E35"/>
                </a:solidFill>
                <a:latin typeface="Plus Jakarta Sans"/>
              </a:rPr>
              <a:t>UI/UX Designer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74556" y="4662487"/>
            <a:ext cx="3900487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500" b="1" i="0" u="none">
                <a:solidFill>
                  <a:srgbClr val="1A3D2F"/>
                </a:solidFill>
                <a:latin typeface="Plus Jakarta Sans"/>
              </a:rPr>
              <a:t>YANGAO, RUBELINDA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67425" y="4976812"/>
            <a:ext cx="3714750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350" b="0" i="0" u="none">
                <a:solidFill>
                  <a:srgbClr val="2C3E35"/>
                </a:solidFill>
                <a:latin typeface="Plus Jakarta Sans"/>
              </a:rPr>
              <a:t>Documentation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2200" y="1709737"/>
            <a:ext cx="5410200" cy="438150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324600" y="2368867"/>
            <a:ext cx="5105400" cy="306323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0F172A"/>
                </a:solidFill>
                <a:latin typeface="DM Mono"/>
              </a:rPr>
              <a:t>02 • TARGET SECTOR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704850"/>
            <a:ext cx="10972800" cy="41549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2700" b="1" i="0" u="none" dirty="0">
                <a:solidFill>
                  <a:srgbClr val="1A3D2F"/>
                </a:solidFill>
                <a:latin typeface="Plus Jakarta Sans"/>
              </a:rPr>
              <a:t>PHINMA University of Pangasinan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2800350"/>
            <a:ext cx="5207000" cy="307777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2000" b="1" i="0" u="none" dirty="0">
                <a:solidFill>
                  <a:srgbClr val="1E4D38"/>
                </a:solidFill>
                <a:latin typeface="Plus Jakarta Sans"/>
              </a:rPr>
              <a:t>Campus Facilities Management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3267075"/>
            <a:ext cx="5207000" cy="660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600" b="0" i="0" u="none" dirty="0">
                <a:solidFill>
                  <a:srgbClr val="2C3E35"/>
                </a:solidFill>
                <a:latin typeface="Plus Jakarta Sans"/>
              </a:rPr>
              <a:t>A web-based system for reporting facility issues and coordinating campus repairs.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4010025"/>
            <a:ext cx="5207000" cy="508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600" b="1" i="0" u="none">
                <a:solidFill>
                  <a:srgbClr val="1A3D2F"/>
                </a:solidFill>
                <a:latin typeface="Plus Jakarta Sans"/>
              </a:rPr>
              <a:t>Scope:</a:t>
            </a:r>
            <a:r>
              <a:rPr sz="1600" b="0" i="0" u="none">
                <a:solidFill>
                  <a:srgbClr val="2C3E35"/>
                </a:solidFill>
                <a:latin typeface="Plus Jakarta Sans"/>
              </a:rPr>
              <a:t> Facility reporting and repair tracking.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4391025"/>
            <a:ext cx="5207000" cy="508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600" b="1" i="0" u="none">
                <a:solidFill>
                  <a:srgbClr val="1A3D2F"/>
                </a:solidFill>
                <a:latin typeface="Plus Jakarta Sans"/>
              </a:rPr>
              <a:t>Users:</a:t>
            </a:r>
            <a:r>
              <a:rPr sz="1600" b="0" i="0" u="none">
                <a:solidFill>
                  <a:srgbClr val="2C3E35"/>
                </a:solidFill>
                <a:latin typeface="Plus Jakarta Sans"/>
              </a:rPr>
              <a:t> Students, faculty, admins, and maintenance staff.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600" y="4940300"/>
            <a:ext cx="5207000" cy="508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600" b="1" i="0" u="none">
                <a:solidFill>
                  <a:srgbClr val="1A3D2F"/>
                </a:solidFill>
                <a:latin typeface="Plus Jakarta Sans"/>
              </a:rPr>
              <a:t>Goal:</a:t>
            </a:r>
            <a:r>
              <a:rPr sz="1600" b="0" i="0" u="none">
                <a:solidFill>
                  <a:srgbClr val="2C3E35"/>
                </a:solidFill>
                <a:latin typeface="Plus Jakarta Sans"/>
              </a:rPr>
              <a:t> Clear records and visible repair progress.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2605087"/>
            <a:ext cx="5372100" cy="1181100"/>
          </a:xfrm>
          <a:prstGeom prst="roundRect">
            <a:avLst>
              <a:gd name="adj" fmla="val 11290"/>
            </a:avLst>
          </a:prstGeom>
          <a:solidFill>
            <a:srgbClr val="F8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210300" y="2605087"/>
            <a:ext cx="5372100" cy="1181100"/>
          </a:xfrm>
          <a:prstGeom prst="roundRect">
            <a:avLst>
              <a:gd name="adj" fmla="val 11290"/>
            </a:avLst>
          </a:prstGeom>
          <a:solidFill>
            <a:srgbClr val="F8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09600" y="4014787"/>
            <a:ext cx="5372100" cy="1181100"/>
          </a:xfrm>
          <a:prstGeom prst="roundRect">
            <a:avLst>
              <a:gd name="adj" fmla="val 11290"/>
            </a:avLst>
          </a:prstGeom>
          <a:solidFill>
            <a:srgbClr val="F8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210300" y="4014787"/>
            <a:ext cx="5372100" cy="1181100"/>
          </a:xfrm>
          <a:prstGeom prst="roundRect">
            <a:avLst>
              <a:gd name="adj" fmla="val 11290"/>
            </a:avLst>
          </a:prstGeom>
          <a:solidFill>
            <a:srgbClr val="F8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909887"/>
            <a:ext cx="571500" cy="5715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15100" y="2909887"/>
            <a:ext cx="571500" cy="5715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4319587"/>
            <a:ext cx="571500" cy="5715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5100" y="4319587"/>
            <a:ext cx="571500" cy="5715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1562" y="3081337"/>
            <a:ext cx="257175" cy="22860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86550" y="3081337"/>
            <a:ext cx="228600" cy="22860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14425" y="4491037"/>
            <a:ext cx="171450" cy="22860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57975" y="4491037"/>
            <a:ext cx="285750" cy="2286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7A9A8B"/>
                </a:solidFill>
                <a:latin typeface="DM Mono"/>
              </a:rPr>
              <a:t>03 • PROBLEM STATEMENT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9600" y="704850"/>
            <a:ext cx="11582400" cy="4286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1A3D2F"/>
                </a:solidFill>
                <a:latin typeface="Plus Jakarta Sans"/>
              </a:rPr>
              <a:t>Campus Maintenance Challenges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14500" y="2914650"/>
            <a:ext cx="4000500" cy="2667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650" b="1" i="0" u="none">
                <a:solidFill>
                  <a:srgbClr val="1A3D2F"/>
                </a:solidFill>
                <a:latin typeface="Plus Jakarta Sans"/>
              </a:rPr>
              <a:t>Scattered Issue Reports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714500" y="3257550"/>
            <a:ext cx="400050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350" b="0" i="0" u="none">
                <a:solidFill>
                  <a:srgbClr val="2C3E35"/>
                </a:solidFill>
                <a:latin typeface="Plus Jakarta Sans"/>
              </a:rPr>
              <a:t>Reports may be spread across different channels.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0" y="2914650"/>
            <a:ext cx="4000500" cy="2667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650" b="1" i="0" u="none">
                <a:solidFill>
                  <a:srgbClr val="1A3D2F"/>
                </a:solidFill>
                <a:latin typeface="Plus Jakarta Sans"/>
              </a:rPr>
              <a:t>Repeated Issue Reports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0" y="3257550"/>
            <a:ext cx="400050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350" b="0" i="0" u="none">
                <a:solidFill>
                  <a:srgbClr val="2C3E35"/>
                </a:solidFill>
                <a:latin typeface="Plus Jakarta Sans"/>
              </a:rPr>
              <a:t>The same defect may be reported more than once.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714500" y="4324350"/>
            <a:ext cx="4000500" cy="2667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650" b="1" i="0" u="none">
                <a:solidFill>
                  <a:srgbClr val="1A3D2F"/>
                </a:solidFill>
                <a:latin typeface="Plus Jakarta Sans"/>
              </a:rPr>
              <a:t>Incomplete Locations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14500" y="4667250"/>
            <a:ext cx="400050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350" b="0" i="0" u="none">
                <a:solidFill>
                  <a:srgbClr val="2C3E35"/>
                </a:solidFill>
                <a:latin typeface="Plus Jakarta Sans"/>
              </a:rPr>
              <a:t>Missing room details can delay repair work.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0" y="4324350"/>
            <a:ext cx="4000500" cy="2667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650" b="1" i="0" u="none">
                <a:solidFill>
                  <a:srgbClr val="1A3D2F"/>
                </a:solidFill>
                <a:latin typeface="Plus Jakarta Sans"/>
              </a:rPr>
              <a:t>Unclear Repair Progress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0" y="4667250"/>
            <a:ext cx="400050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350" b="0" i="0" u="none">
                <a:solidFill>
                  <a:srgbClr val="2C3E35"/>
                </a:solidFill>
                <a:latin typeface="Plus Jakarta Sans"/>
              </a:rPr>
              <a:t>Users may not know who is handling a repair.</a:t>
            </a:r>
          </a:p>
        </p:txBody>
      </p:sp>
      <p:sp>
        <p:nvSpPr>
          <p:cNvPr id="24" name="Context note 24"/>
          <p:cNvSpPr txBox="1"/>
          <p:nvPr/>
        </p:nvSpPr>
        <p:spPr>
          <a:xfrm>
            <a:off x="609600" y="1270000"/>
            <a:ext cx="10795000" cy="304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400" b="0" i="0" u="none">
                <a:solidFill>
                  <a:srgbClr val="2C3E35"/>
                </a:solidFill>
                <a:latin typeface="Plus Jakarta Sans"/>
              </a:rPr>
              <a:t>Project assumptions to validate with PHINMA UPang personnel.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557681" y="3852862"/>
            <a:ext cx="762000" cy="28575"/>
          </a:xfrm>
          <a:prstGeom prst="rect">
            <a:avLst/>
          </a:prstGeom>
          <a:solidFill>
            <a:srgbClr val="7A9A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703366" y="2052637"/>
            <a:ext cx="2500312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050" b="0" i="0" u="none" dirty="0">
                <a:solidFill>
                  <a:srgbClr val="0F172A"/>
                </a:solidFill>
                <a:latin typeface="DM Mono"/>
              </a:rPr>
              <a:t>04 • SYSTEM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159423" y="2214562"/>
            <a:ext cx="5588198" cy="762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4800" b="1" i="0" u="none" dirty="0" err="1">
                <a:solidFill>
                  <a:srgbClr val="1A3D2F"/>
                </a:solidFill>
                <a:latin typeface="Plus Jakarta Sans"/>
              </a:rPr>
              <a:t>FixMyCampus</a:t>
            </a:r>
            <a:endParaRPr sz="4800" b="1" i="0" u="none" dirty="0">
              <a:solidFill>
                <a:srgbClr val="1A3D2F"/>
              </a:solidFill>
              <a:latin typeface="Plus Jakarta San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667272" y="2899588"/>
            <a:ext cx="857250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800" b="0" i="0" u="none" dirty="0">
                <a:solidFill>
                  <a:srgbClr val="2C3E35"/>
                </a:solidFill>
                <a:latin typeface="Plus Jakarta Sans"/>
              </a:rPr>
              <a:t>Report facility issues. Assign repairs. Track progress.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97831" y="4310062"/>
            <a:ext cx="2536031" cy="581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3600" b="1" i="0" u="none">
                <a:solidFill>
                  <a:srgbClr val="1E4D38"/>
                </a:solidFill>
                <a:latin typeface="Plus Jakarta Sans"/>
              </a:rPr>
              <a:t>Report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76772" y="4967287"/>
            <a:ext cx="2984500" cy="21907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/>
            <a:r>
              <a:rPr sz="1350" b="0" i="0" u="none">
                <a:solidFill>
                  <a:srgbClr val="2C3E35"/>
                </a:solidFill>
                <a:latin typeface="Plus Jakarta Sans"/>
              </a:rPr>
              <a:t>Photos &amp; Campus Locations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52937" y="4310062"/>
            <a:ext cx="2893218" cy="581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3600" b="1" i="0" u="none">
                <a:solidFill>
                  <a:srgbClr val="1E4D38"/>
                </a:solidFill>
                <a:latin typeface="Plus Jakarta Sans"/>
              </a:rPr>
              <a:t>Track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61272" y="4967287"/>
            <a:ext cx="2984500" cy="21907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/>
            <a:r>
              <a:rPr sz="1350" b="0" i="0" u="none">
                <a:solidFill>
                  <a:srgbClr val="2C3E35"/>
                </a:solidFill>
                <a:latin typeface="Plus Jakarta Sans"/>
              </a:rPr>
              <a:t>Status Updates &amp; Notifications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6175" y="4310062"/>
            <a:ext cx="3226593" cy="581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3600" b="1" i="0" u="none" dirty="0">
                <a:solidFill>
                  <a:srgbClr val="1E4D38"/>
                </a:solidFill>
                <a:latin typeface="Plus Jakarta Sans"/>
              </a:rPr>
              <a:t>Manage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83872" y="4967287"/>
            <a:ext cx="3365500" cy="21907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/>
            <a:r>
              <a:rPr sz="1350" b="0" i="0" u="none" dirty="0">
                <a:solidFill>
                  <a:srgbClr val="2C3E35"/>
                </a:solidFill>
                <a:latin typeface="Plus Jakarta Sans"/>
              </a:rPr>
              <a:t>Assignments &amp; Summary Reports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1709737"/>
            <a:ext cx="10668000" cy="43815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7A9A8B"/>
                </a:solidFill>
                <a:latin typeface="DM Mono"/>
              </a:rPr>
              <a:t>05 • SYSTEM CAPABILITIES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704850"/>
            <a:ext cx="11582400" cy="4286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1A3D2F"/>
                </a:solidFill>
                <a:latin typeface="Plus Jakarta Sans"/>
              </a:rPr>
              <a:t>Core System Features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095500"/>
            <a:ext cx="10033000" cy="571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2000" b="1" i="0" u="none" dirty="0">
                <a:solidFill>
                  <a:srgbClr val="1A3D2F"/>
                </a:solidFill>
                <a:latin typeface="Plus Jakarta Sans"/>
              </a:rPr>
              <a:t>Issue Reporting:</a:t>
            </a:r>
            <a:r>
              <a:rPr sz="2000" b="0" i="0" u="none" dirty="0">
                <a:solidFill>
                  <a:srgbClr val="2C3E35"/>
                </a:solidFill>
                <a:latin typeface="Plus Jakarta Sans"/>
              </a:rPr>
              <a:t> Submit photos, categories, and campus locations.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794000"/>
            <a:ext cx="10033000" cy="571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2000" b="1" i="0" u="none" dirty="0">
                <a:solidFill>
                  <a:srgbClr val="1A3D2F"/>
                </a:solidFill>
                <a:latin typeface="Plus Jakarta Sans"/>
              </a:rPr>
              <a:t>Duplicate Checks:</a:t>
            </a:r>
            <a:r>
              <a:rPr sz="2000" b="0" i="0" u="none" dirty="0">
                <a:solidFill>
                  <a:srgbClr val="2C3E35"/>
                </a:solidFill>
                <a:latin typeface="Plus Jakarta Sans"/>
              </a:rPr>
              <a:t> Confirm an existing report for the same issue.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492500"/>
            <a:ext cx="10033000" cy="571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2000" b="1" i="0" u="none">
                <a:solidFill>
                  <a:srgbClr val="1A3D2F"/>
                </a:solidFill>
                <a:latin typeface="Plus Jakarta Sans"/>
              </a:rPr>
              <a:t>Work Assignment:</a:t>
            </a:r>
            <a:r>
              <a:rPr sz="2000" b="0" i="0" u="none">
                <a:solidFill>
                  <a:srgbClr val="2C3E35"/>
                </a:solidFill>
                <a:latin typeface="Plus Jakarta Sans"/>
              </a:rPr>
              <a:t> Admins assign tickets to maintenance personnel.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191000"/>
            <a:ext cx="10033000" cy="571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2000" b="1" i="0" u="none" dirty="0">
                <a:solidFill>
                  <a:srgbClr val="1A3D2F"/>
                </a:solidFill>
                <a:latin typeface="Plus Jakarta Sans"/>
              </a:rPr>
              <a:t>Progress Tracking:</a:t>
            </a:r>
            <a:r>
              <a:rPr sz="2000" b="0" i="0" u="none" dirty="0">
                <a:solidFill>
                  <a:srgbClr val="2C3E35"/>
                </a:solidFill>
                <a:latin typeface="Plus Jakarta Sans"/>
              </a:rPr>
              <a:t> View status updates, notifications, and history.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889500"/>
            <a:ext cx="10033000" cy="571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2000" b="1" i="0" u="none">
                <a:solidFill>
                  <a:srgbClr val="1A3D2F"/>
                </a:solidFill>
                <a:latin typeface="Plus Jakarta Sans"/>
              </a:rPr>
              <a:t>Dashboards &amp; Reports:</a:t>
            </a:r>
            <a:r>
              <a:rPr sz="2000" b="0" i="0" u="none">
                <a:solidFill>
                  <a:srgbClr val="2C3E35"/>
                </a:solidFill>
                <a:latin typeface="Plus Jakarta Sans"/>
              </a:rPr>
              <a:t> Search, filter, and export repair summaries.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146500" y="2662237"/>
            <a:ext cx="9525" cy="2476500"/>
          </a:xfrm>
          <a:prstGeom prst="rect">
            <a:avLst/>
          </a:prstGeom>
          <a:solidFill>
            <a:srgbClr val="DCE7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8035825" y="2662237"/>
            <a:ext cx="9525" cy="2476500"/>
          </a:xfrm>
          <a:prstGeom prst="rect">
            <a:avLst/>
          </a:prstGeom>
          <a:solidFill>
            <a:srgbClr val="DCE7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0F172A"/>
                </a:solidFill>
                <a:latin typeface="DM Mono"/>
              </a:rPr>
              <a:t>06 • USER ACCESS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704850"/>
            <a:ext cx="11582400" cy="4286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1A3D2F"/>
                </a:solidFill>
                <a:latin typeface="Plus Jakarta Sans"/>
              </a:rPr>
              <a:t>System Users &amp; Roles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8209" y="2849865"/>
            <a:ext cx="3302000" cy="3693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2400" b="1" i="0" u="none" dirty="0">
                <a:solidFill>
                  <a:srgbClr val="1A3D2F"/>
                </a:solidFill>
                <a:latin typeface="Plus Jakarta Sans"/>
              </a:rPr>
              <a:t>Administrator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37534" y="2849865"/>
            <a:ext cx="3302000" cy="3693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2400" b="1" i="0" u="none">
                <a:solidFill>
                  <a:srgbClr val="1A3D2F"/>
                </a:solidFill>
                <a:latin typeface="Plus Jakarta Sans"/>
              </a:rPr>
              <a:t>Maintenance Staff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28895" y="2849865"/>
            <a:ext cx="3302000" cy="3693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2400" b="1" i="0" u="none" dirty="0">
                <a:solidFill>
                  <a:srgbClr val="1A3D2F"/>
                </a:solidFill>
                <a:latin typeface="Plus Jakarta Sans"/>
              </a:rPr>
              <a:t>Student</a:t>
            </a:r>
            <a:endParaRPr sz="2400" b="1" i="0" u="none" dirty="0">
              <a:solidFill>
                <a:srgbClr val="1A3D2F"/>
              </a:solidFill>
              <a:latin typeface="Plus Jakarta San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56564" y="3324584"/>
            <a:ext cx="3200400" cy="584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600" b="1" i="0" u="none" dirty="0">
                <a:solidFill>
                  <a:srgbClr val="1E4D38"/>
                </a:solidFill>
                <a:latin typeface="Plus Jakarta Sans"/>
              </a:rPr>
              <a:t>User Management:</a:t>
            </a:r>
            <a:r>
              <a:rPr sz="1600" b="0" i="0" u="none" dirty="0">
                <a:solidFill>
                  <a:srgbClr val="2C3E35"/>
                </a:solidFill>
                <a:latin typeface="Plus Jakarta Sans"/>
              </a:rPr>
              <a:t> Manage accounts and role permissions.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6564" y="4038600"/>
            <a:ext cx="3200400" cy="584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600" b="1" i="0" u="none">
                <a:solidFill>
                  <a:srgbClr val="1E4D38"/>
                </a:solidFill>
                <a:latin typeface="Plus Jakarta Sans"/>
              </a:rPr>
              <a:t>Work Assignment:</a:t>
            </a:r>
            <a:r>
              <a:rPr sz="1600" b="0" i="0" u="none">
                <a:solidFill>
                  <a:srgbClr val="2C3E35"/>
                </a:solidFill>
                <a:latin typeface="Plus Jakarta Sans"/>
              </a:rPr>
              <a:t> Review issues and assign repair staff.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6564" y="4749800"/>
            <a:ext cx="3200400" cy="584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600" b="1" i="0" u="none">
                <a:solidFill>
                  <a:srgbClr val="1E4D38"/>
                </a:solidFill>
                <a:latin typeface="Plus Jakarta Sans"/>
              </a:rPr>
              <a:t>Campus Oversight:</a:t>
            </a:r>
            <a:r>
              <a:rPr sz="1600" b="0" i="0" u="none">
                <a:solidFill>
                  <a:srgbClr val="2C3E35"/>
                </a:solidFill>
                <a:latin typeface="Plus Jakarta Sans"/>
              </a:rPr>
              <a:t> Maintain locations and review reports.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45889" y="3324584"/>
            <a:ext cx="3200400" cy="584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600" b="1" i="0" u="none" dirty="0">
                <a:solidFill>
                  <a:srgbClr val="1E4D38"/>
                </a:solidFill>
                <a:latin typeface="Plus Jakarta Sans"/>
              </a:rPr>
              <a:t>Assigned Work:</a:t>
            </a:r>
            <a:r>
              <a:rPr sz="1600" b="0" i="0" u="none" dirty="0">
                <a:solidFill>
                  <a:srgbClr val="2C3E35"/>
                </a:solidFill>
                <a:latin typeface="Plus Jakarta Sans"/>
              </a:rPr>
              <a:t> View tickets assigned for repair.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45889" y="4038600"/>
            <a:ext cx="3200400" cy="584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600" b="1" i="0" u="none" dirty="0">
                <a:solidFill>
                  <a:srgbClr val="1E4D38"/>
                </a:solidFill>
                <a:latin typeface="Plus Jakarta Sans"/>
              </a:rPr>
              <a:t>Progress Updates:</a:t>
            </a:r>
            <a:r>
              <a:rPr sz="1600" b="0" i="0" u="none" dirty="0">
                <a:solidFill>
                  <a:srgbClr val="2C3E35"/>
                </a:solidFill>
                <a:latin typeface="Plus Jakarta Sans"/>
              </a:rPr>
              <a:t> Add work notes and change ticket status.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45889" y="4749800"/>
            <a:ext cx="3200400" cy="584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600" b="1" i="0" u="none" dirty="0">
                <a:solidFill>
                  <a:srgbClr val="1E4D38"/>
                </a:solidFill>
                <a:latin typeface="Plus Jakarta Sans"/>
              </a:rPr>
              <a:t>Work Monitoring:</a:t>
            </a:r>
            <a:r>
              <a:rPr sz="1600" b="0" i="0" u="none" dirty="0">
                <a:solidFill>
                  <a:srgbClr val="2C3E35"/>
                </a:solidFill>
                <a:latin typeface="Plus Jakarta Sans"/>
              </a:rPr>
              <a:t> Review assigned tasks and repair progress.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35214" y="3324584"/>
            <a:ext cx="3200400" cy="584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600" b="1" i="0" u="none">
                <a:solidFill>
                  <a:srgbClr val="1E4D38"/>
                </a:solidFill>
                <a:latin typeface="Plus Jakarta Sans"/>
              </a:rPr>
              <a:t>Issue Submission:</a:t>
            </a:r>
            <a:r>
              <a:rPr sz="1600" b="0" i="0" u="none">
                <a:solidFill>
                  <a:srgbClr val="2C3E35"/>
                </a:solidFill>
                <a:latin typeface="Plus Jakarta Sans"/>
              </a:rPr>
              <a:t> Add defect photos and location details.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35214" y="4038600"/>
            <a:ext cx="3200400" cy="584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600" b="1" i="0" u="none">
                <a:solidFill>
                  <a:srgbClr val="1E4D38"/>
                </a:solidFill>
                <a:latin typeface="Plus Jakarta Sans"/>
              </a:rPr>
              <a:t>Duplicate Checks:</a:t>
            </a:r>
            <a:r>
              <a:rPr sz="1600" b="0" i="0" u="none">
                <a:solidFill>
                  <a:srgbClr val="2C3E35"/>
                </a:solidFill>
                <a:latin typeface="Plus Jakarta Sans"/>
              </a:rPr>
              <a:t> Confirm an existing campus issue.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35214" y="4749800"/>
            <a:ext cx="3200400" cy="584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600" b="1" i="0" u="none">
                <a:solidFill>
                  <a:srgbClr val="1E4D38"/>
                </a:solidFill>
                <a:latin typeface="Plus Jakarta Sans"/>
              </a:rPr>
              <a:t>Report Tracking:</a:t>
            </a:r>
            <a:r>
              <a:rPr sz="1600" b="0" i="0" u="none">
                <a:solidFill>
                  <a:srgbClr val="2C3E35"/>
                </a:solidFill>
                <a:latin typeface="Plus Jakarta Sans"/>
              </a:rPr>
              <a:t> Follow status updates and notifications.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329565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1A3D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181100" y="3514725"/>
            <a:ext cx="2000250" cy="19050"/>
          </a:xfrm>
          <a:prstGeom prst="rect">
            <a:avLst/>
          </a:prstGeom>
          <a:solidFill>
            <a:srgbClr val="7A9A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3409950" y="329565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1E4D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3981450" y="3514725"/>
            <a:ext cx="2000250" cy="19050"/>
          </a:xfrm>
          <a:prstGeom prst="rect">
            <a:avLst/>
          </a:prstGeom>
          <a:solidFill>
            <a:srgbClr val="7A9A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210300" y="329565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1E4D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781800" y="3514725"/>
            <a:ext cx="2000250" cy="19050"/>
          </a:xfrm>
          <a:prstGeom prst="rect">
            <a:avLst/>
          </a:prstGeom>
          <a:solidFill>
            <a:srgbClr val="7A9A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9010650" y="329565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7A9A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9582150" y="3514725"/>
            <a:ext cx="2000250" cy="19050"/>
          </a:xfrm>
          <a:prstGeom prst="rect">
            <a:avLst/>
          </a:prstGeom>
          <a:solidFill>
            <a:srgbClr val="EB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7A9A8B"/>
                </a:solidFill>
                <a:latin typeface="DM Mono"/>
              </a:rPr>
              <a:t>07 • PROJECT WALKTHROUGH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704850"/>
            <a:ext cx="11582400" cy="4286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1A3D2F"/>
                </a:solidFill>
                <a:latin typeface="Plus Jakarta Sans"/>
              </a:rPr>
              <a:t>From Issue Report to Resolution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600" y="3924300"/>
            <a:ext cx="2540000" cy="2667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650" b="1" i="0" u="none">
                <a:solidFill>
                  <a:srgbClr val="1A3D2F"/>
                </a:solidFill>
                <a:latin typeface="Plus Jakarta Sans"/>
              </a:rPr>
              <a:t>Submit Issue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9600" y="4305300"/>
            <a:ext cx="2540000" cy="762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350" b="0" i="0" u="none">
                <a:solidFill>
                  <a:srgbClr val="2C3E35"/>
                </a:solidFill>
                <a:latin typeface="Plus Jakarta Sans"/>
              </a:rPr>
              <a:t>Add a photo, category, and campus location.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09950" y="3924300"/>
            <a:ext cx="2540000" cy="2667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650" b="1" i="0" u="none">
                <a:solidFill>
                  <a:srgbClr val="1A3D2F"/>
                </a:solidFill>
                <a:latin typeface="Plus Jakarta Sans"/>
              </a:rPr>
              <a:t>Review &amp; Assign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09950" y="4305300"/>
            <a:ext cx="2540000" cy="762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350" b="0" i="0" u="none">
                <a:solidFill>
                  <a:srgbClr val="2C3E35"/>
                </a:solidFill>
                <a:latin typeface="Plus Jakarta Sans"/>
              </a:rPr>
              <a:t>Admin reviews the issue and assigns maintenance staff.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0300" y="3924300"/>
            <a:ext cx="2540000" cy="2667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650" b="1" i="0" u="none">
                <a:solidFill>
                  <a:srgbClr val="1A3D2F"/>
                </a:solidFill>
                <a:latin typeface="Plus Jakarta Sans"/>
              </a:rPr>
              <a:t>Update Progress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0300" y="4305300"/>
            <a:ext cx="2540000" cy="762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350" b="0" i="0" u="none">
                <a:solidFill>
                  <a:srgbClr val="2C3E35"/>
                </a:solidFill>
                <a:latin typeface="Plus Jakarta Sans"/>
              </a:rPr>
              <a:t>Staff updates repair status and adds work notes.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10650" y="3924300"/>
            <a:ext cx="2540000" cy="2667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650" b="1" i="0" u="none">
                <a:solidFill>
                  <a:srgbClr val="1A3D2F"/>
                </a:solidFill>
                <a:latin typeface="Plus Jakarta Sans"/>
              </a:rPr>
              <a:t>Resolve &amp; Track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10650" y="4305300"/>
            <a:ext cx="2540000" cy="762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350" b="0" i="0" u="none">
                <a:solidFill>
                  <a:srgbClr val="2C3E35"/>
                </a:solidFill>
                <a:latin typeface="Plus Jakarta Sans"/>
              </a:rPr>
              <a:t>Record resolution and retain the report history.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3425" y="3397250"/>
            <a:ext cx="4953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350" b="0" i="0" u="none">
                <a:solidFill>
                  <a:srgbClr val="FFFFFF"/>
                </a:solidFill>
                <a:latin typeface="DM Mono"/>
              </a:rPr>
              <a:t>01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33775" y="3397250"/>
            <a:ext cx="4953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350" b="0" i="0" u="none">
                <a:solidFill>
                  <a:srgbClr val="FFFFFF"/>
                </a:solidFill>
                <a:latin typeface="DM Mono"/>
              </a:rPr>
              <a:t>02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34125" y="3397250"/>
            <a:ext cx="4953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350" b="0" i="0" u="none">
                <a:solidFill>
                  <a:srgbClr val="FFFFFF"/>
                </a:solidFill>
                <a:latin typeface="DM Mono"/>
              </a:rP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34475" y="3397250"/>
            <a:ext cx="4953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350" b="0" i="0" u="none">
                <a:solidFill>
                  <a:srgbClr val="FFFFFF"/>
                </a:solidFill>
                <a:latin typeface="DM Mono"/>
              </a:rPr>
              <a:t>04</a:t>
            </a:r>
          </a:p>
        </p:txBody>
      </p:sp>
      <p:sp>
        <p:nvSpPr>
          <p:cNvPr id="24" name="Context note 24"/>
          <p:cNvSpPr txBox="1"/>
          <p:nvPr/>
        </p:nvSpPr>
        <p:spPr>
          <a:xfrm>
            <a:off x="609600" y="5524500"/>
            <a:ext cx="10972800" cy="317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400" b="0" i="0" u="none">
                <a:solidFill>
                  <a:srgbClr val="2C3E35"/>
                </a:solidFill>
                <a:latin typeface="Plus Jakarta Sans"/>
              </a:rPr>
              <a:t>Main workflow shown; reports may also be placed on hold or rejected.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1955800"/>
            <a:ext cx="10972800" cy="3962400"/>
          </a:xfrm>
          <a:prstGeom prst="roundRect">
            <a:avLst>
              <a:gd name="adj" fmla="val 0"/>
            </a:avLst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/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6268719"/>
              </p:ext>
            </p:extLst>
          </p:nvPr>
        </p:nvGraphicFramePr>
        <p:xfrm>
          <a:off x="609600" y="1955800"/>
          <a:ext cx="10972799" cy="3962400"/>
        </p:xfrm>
        <a:graphic>
          <a:graphicData uri="http://schemas.openxmlformats.org/drawingml/2006/table">
            <a:tbl>
              <a:tblPr/>
              <a:tblGrid>
                <a:gridCol w="252233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3981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1064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60400">
                <a:tc>
                  <a:txBody>
                    <a:bodyPr/>
                    <a:lstStyle/>
                    <a:p>
                      <a:pPr algn="l"/>
                      <a:r>
                        <a:rPr sz="1600" b="1" i="0" u="none">
                          <a:solidFill>
                            <a:srgbClr val="FFFFFF"/>
                          </a:solidFill>
                          <a:latin typeface="Plus Jakarta Sans"/>
                        </a:rPr>
                        <a:t>System Layer</a:t>
                      </a:r>
                    </a:p>
                  </a:txBody>
                  <a:tcPr marL="127000" marR="1270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A3D2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1" i="0" u="none">
                          <a:solidFill>
                            <a:srgbClr val="FFFFFF"/>
                          </a:solidFill>
                          <a:latin typeface="Plus Jakarta Sans"/>
                        </a:rPr>
                        <a:t>Technologies Used</a:t>
                      </a:r>
                    </a:p>
                  </a:txBody>
                  <a:tcPr marL="127000" marR="1270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A3D2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1" i="0" u="none">
                          <a:solidFill>
                            <a:srgbClr val="FFFFFF"/>
                          </a:solidFill>
                          <a:latin typeface="Plus Jakarta Sans"/>
                        </a:rPr>
                        <a:t>Primary Role</a:t>
                      </a:r>
                    </a:p>
                  </a:txBody>
                  <a:tcPr marL="127000" marR="1270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A3D2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60400">
                <a:tc>
                  <a:txBody>
                    <a:bodyPr/>
                    <a:lstStyle/>
                    <a:p>
                      <a:pPr algn="l"/>
                      <a:r>
                        <a:rPr sz="1600" b="1" i="0" u="none">
                          <a:solidFill>
                            <a:srgbClr val="1A3D2F"/>
                          </a:solidFill>
                          <a:latin typeface="Plus Jakarta Sans"/>
                        </a:rPr>
                        <a:t>Frontend</a:t>
                      </a:r>
                    </a:p>
                  </a:txBody>
                  <a:tcPr marL="127000" marR="1270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 i="0" u="none" dirty="0">
                          <a:solidFill>
                            <a:srgbClr val="2C3E35"/>
                          </a:solidFill>
                          <a:latin typeface="Plus Jakarta Sans"/>
                        </a:rPr>
                        <a:t>React, Vite, JavaScript, HTML5, CSS3</a:t>
                      </a:r>
                    </a:p>
                  </a:txBody>
                  <a:tcPr marL="127000" marR="1270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 i="0" u="none" dirty="0">
                          <a:solidFill>
                            <a:srgbClr val="2C3E35"/>
                          </a:solidFill>
                          <a:latin typeface="Plus Jakarta Sans"/>
                        </a:rPr>
                        <a:t>Interactive web interface</a:t>
                      </a:r>
                    </a:p>
                  </a:txBody>
                  <a:tcPr marL="127000" marR="1270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60400">
                <a:tc>
                  <a:txBody>
                    <a:bodyPr/>
                    <a:lstStyle/>
                    <a:p>
                      <a:pPr algn="l"/>
                      <a:r>
                        <a:rPr sz="1600" b="1" i="0" u="none">
                          <a:solidFill>
                            <a:srgbClr val="1A3D2F"/>
                          </a:solidFill>
                          <a:latin typeface="Plus Jakarta Sans"/>
                        </a:rPr>
                        <a:t>UI &amp; Exports</a:t>
                      </a:r>
                    </a:p>
                  </a:txBody>
                  <a:tcPr marL="127000" marR="1270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 i="0" u="none" dirty="0" err="1">
                          <a:solidFill>
                            <a:srgbClr val="2C3E35"/>
                          </a:solidFill>
                          <a:latin typeface="Plus Jakarta Sans"/>
                        </a:rPr>
                        <a:t>Lucide React, SheetJS (xlsx), file-saver</a:t>
                      </a:r>
                    </a:p>
                  </a:txBody>
                  <a:tcPr marL="127000" marR="1270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 i="0" u="none">
                          <a:solidFill>
                            <a:srgbClr val="2C3E35"/>
                          </a:solidFill>
                          <a:latin typeface="Plus Jakarta Sans"/>
                        </a:rPr>
                        <a:t>Icons and spreadsheet exports</a:t>
                      </a:r>
                    </a:p>
                  </a:txBody>
                  <a:tcPr marL="127000" marR="1270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60400">
                <a:tc>
                  <a:txBody>
                    <a:bodyPr/>
                    <a:lstStyle/>
                    <a:p>
                      <a:pPr algn="l"/>
                      <a:r>
                        <a:rPr sz="1600" b="1" i="0" u="none">
                          <a:solidFill>
                            <a:srgbClr val="1A3D2F"/>
                          </a:solidFill>
                          <a:latin typeface="Plus Jakarta Sans"/>
                        </a:rPr>
                        <a:t>Backend</a:t>
                      </a:r>
                    </a:p>
                  </a:txBody>
                  <a:tcPr marL="127000" marR="1270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 i="0" u="none" dirty="0">
                          <a:solidFill>
                            <a:srgbClr val="2C3E35"/>
                          </a:solidFill>
                          <a:latin typeface="Plus Jakarta Sans"/>
                        </a:rPr>
                        <a:t>PHP 8.3, Apache</a:t>
                      </a:r>
                    </a:p>
                  </a:txBody>
                  <a:tcPr marL="127000" marR="1270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 i="0" u="none" dirty="0">
                          <a:solidFill>
                            <a:srgbClr val="2C3E35"/>
                          </a:solidFill>
                          <a:latin typeface="Plus Jakarta Sans"/>
                        </a:rPr>
                        <a:t>REST API and database access</a:t>
                      </a:r>
                    </a:p>
                  </a:txBody>
                  <a:tcPr marL="127000" marR="1270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60400">
                <a:tc>
                  <a:txBody>
                    <a:bodyPr/>
                    <a:lstStyle/>
                    <a:p>
                      <a:pPr algn="l"/>
                      <a:r>
                        <a:rPr sz="1600" b="1" i="0" u="none">
                          <a:solidFill>
                            <a:srgbClr val="1A3D2F"/>
                          </a:solidFill>
                          <a:latin typeface="Plus Jakarta Sans"/>
                        </a:rPr>
                        <a:t>Database</a:t>
                      </a:r>
                    </a:p>
                  </a:txBody>
                  <a:tcPr marL="127000" marR="1270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 i="0" u="none" dirty="0">
                          <a:solidFill>
                            <a:srgbClr val="2C3E35"/>
                          </a:solidFill>
                          <a:latin typeface="Plus Jakarta Sans"/>
                        </a:rPr>
                        <a:t>MySQL 8.0, phpMyAdmin</a:t>
                      </a:r>
                    </a:p>
                  </a:txBody>
                  <a:tcPr marL="127000" marR="1270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 i="0" u="none">
                          <a:solidFill>
                            <a:srgbClr val="2C3E35"/>
                          </a:solidFill>
                          <a:latin typeface="Plus Jakarta Sans"/>
                        </a:rPr>
                        <a:t>Relational storage and administration</a:t>
                      </a:r>
                    </a:p>
                  </a:txBody>
                  <a:tcPr marL="127000" marR="1270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60400">
                <a:tc>
                  <a:txBody>
                    <a:bodyPr/>
                    <a:lstStyle/>
                    <a:p>
                      <a:pPr algn="l"/>
                      <a:r>
                        <a:rPr sz="1600" b="1" i="0" u="none">
                          <a:solidFill>
                            <a:srgbClr val="1A3D2F"/>
                          </a:solidFill>
                          <a:latin typeface="Plus Jakarta Sans"/>
                        </a:rPr>
                        <a:t>Development Tools</a:t>
                      </a:r>
                    </a:p>
                  </a:txBody>
                  <a:tcPr marL="127000" marR="1270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 i="0" u="none">
                          <a:solidFill>
                            <a:srgbClr val="2C3E35"/>
                          </a:solidFill>
                          <a:latin typeface="Plus Jakarta Sans"/>
                        </a:rPr>
                        <a:t>Docke</a:t>
                      </a:r>
                      <a:r>
                        <a:rPr lang="en-US" sz="1600" b="0" i="0" u="none">
                          <a:solidFill>
                            <a:srgbClr val="2C3E35"/>
                          </a:solidFill>
                          <a:latin typeface="Plus Jakarta Sans"/>
                        </a:rPr>
                        <a:t>r</a:t>
                      </a:r>
                      <a:r>
                        <a:rPr sz="1600" b="0" i="0" u="none">
                          <a:solidFill>
                            <a:srgbClr val="2C3E35"/>
                          </a:solidFill>
                          <a:latin typeface="Plus Jakarta Sans"/>
                        </a:rPr>
                        <a:t>, </a:t>
                      </a:r>
                      <a:r>
                        <a:rPr sz="1600" b="0" i="0" u="none" dirty="0">
                          <a:solidFill>
                            <a:srgbClr val="2C3E35"/>
                          </a:solidFill>
                          <a:latin typeface="Plus Jakarta Sans"/>
                        </a:rPr>
                        <a:t>Node.js, Git</a:t>
                      </a:r>
                    </a:p>
                  </a:txBody>
                  <a:tcPr marL="127000" marR="1270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 i="0" u="none" dirty="0">
                          <a:solidFill>
                            <a:srgbClr val="2C3E35"/>
                          </a:solidFill>
                          <a:latin typeface="Plus Jakarta Sans"/>
                        </a:rPr>
                        <a:t>Local services, builds, and version control</a:t>
                      </a:r>
                    </a:p>
                  </a:txBody>
                  <a:tcPr marL="127000" marR="1270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0F172A"/>
                </a:solidFill>
                <a:latin typeface="DM Mono"/>
              </a:rPr>
              <a:t>08 • TECHNICAL STACK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704850"/>
            <a:ext cx="11582400" cy="4286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1A3D2F"/>
                </a:solidFill>
                <a:latin typeface="Plus Jakarta Sans"/>
              </a:rPr>
              <a:t>Development Tools Used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2128837"/>
            <a:ext cx="5257800" cy="3543300"/>
          </a:xfrm>
          <a:prstGeom prst="roundRect">
            <a:avLst>
              <a:gd name="adj" fmla="val 3763"/>
            </a:avLst>
          </a:prstGeom>
          <a:solidFill>
            <a:schemeClr val="bg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324600" y="2128837"/>
            <a:ext cx="5257800" cy="3543300"/>
          </a:xfrm>
          <a:prstGeom prst="roundRect">
            <a:avLst>
              <a:gd name="adj" fmla="val 3763"/>
            </a:avLst>
          </a:prstGeom>
          <a:solidFill>
            <a:srgbClr val="EB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7A9A8B"/>
                </a:solidFill>
                <a:latin typeface="DM Mono"/>
              </a:rPr>
              <a:t>09 • PROJECT RETROSPECTIVE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704850"/>
            <a:ext cx="11582400" cy="4286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1A3D2F"/>
                </a:solidFill>
                <a:latin typeface="Plus Jakarta Sans"/>
              </a:rPr>
              <a:t>Challenges &amp; Lessons Learned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52500" y="2471737"/>
            <a:ext cx="4635500" cy="2857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800" b="1" i="0" u="none">
                <a:solidFill>
                  <a:srgbClr val="1A3D2F"/>
                </a:solidFill>
                <a:latin typeface="Plus Jakarta Sans"/>
              </a:rPr>
              <a:t>Challenges Encountered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67500" y="2471737"/>
            <a:ext cx="4635500" cy="2857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800" b="1" i="0" u="none">
                <a:solidFill>
                  <a:srgbClr val="1A3D2F"/>
                </a:solidFill>
                <a:latin typeface="Plus Jakarta Sans"/>
              </a:rPr>
              <a:t>Lessons Learned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2500" y="2986087"/>
            <a:ext cx="4667250" cy="558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425" b="1" i="0" u="none" dirty="0">
                <a:solidFill>
                  <a:srgbClr val="1E4D38"/>
                </a:solidFill>
                <a:latin typeface="Plus Jakarta Sans"/>
              </a:rPr>
              <a:t>API Integration:</a:t>
            </a:r>
            <a:r>
              <a:rPr sz="1425" b="0" i="0" u="none" dirty="0">
                <a:solidFill>
                  <a:srgbClr val="2C3E35"/>
                </a:solidFill>
                <a:latin typeface="Plus Jakarta Sans"/>
              </a:rPr>
              <a:t> Connecting the React interface to PHP endpoints.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52500" y="3614737"/>
            <a:ext cx="4667250" cy="558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425" b="1" i="0" u="none" dirty="0">
                <a:solidFill>
                  <a:srgbClr val="1E4D38"/>
                </a:solidFill>
                <a:latin typeface="Plus Jakarta Sans"/>
              </a:rPr>
              <a:t>Docker Networking:</a:t>
            </a:r>
            <a:r>
              <a:rPr sz="1425" b="0" i="0" u="none" dirty="0">
                <a:solidFill>
                  <a:srgbClr val="2C3E35"/>
                </a:solidFill>
                <a:latin typeface="Plus Jakarta Sans"/>
              </a:rPr>
              <a:t> Connecting the app and MySQL services.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52500" y="4243387"/>
            <a:ext cx="4667250" cy="558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425" b="1" i="0" u="none">
                <a:solidFill>
                  <a:srgbClr val="1E4D38"/>
                </a:solidFill>
                <a:latin typeface="Plus Jakarta Sans"/>
              </a:rPr>
              <a:t>Responsive Layouts:</a:t>
            </a:r>
            <a:r>
              <a:rPr sz="1425" b="0" i="0" u="none">
                <a:solidFill>
                  <a:srgbClr val="2C3E35"/>
                </a:solidFill>
                <a:latin typeface="Plus Jakarta Sans"/>
              </a:rPr>
              <a:t> Keeping pages usable across screen sizes.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52500" y="4872037"/>
            <a:ext cx="4667250" cy="558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425" b="1" i="0" u="none">
                <a:solidFill>
                  <a:srgbClr val="1E4D38"/>
                </a:solidFill>
                <a:latin typeface="Plus Jakarta Sans"/>
              </a:rPr>
              <a:t>Export Formatting:</a:t>
            </a:r>
            <a:r>
              <a:rPr sz="1425" b="0" i="0" u="none">
                <a:solidFill>
                  <a:srgbClr val="2C3E35"/>
                </a:solidFill>
                <a:latin typeface="Plus Jakarta Sans"/>
              </a:rPr>
              <a:t> Organizing spreadsheet data with SheetJS.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67500" y="2986087"/>
            <a:ext cx="4667250" cy="558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425" b="1" i="0" u="none">
                <a:solidFill>
                  <a:srgbClr val="1E4D38"/>
                </a:solidFill>
                <a:latin typeface="Plus Jakarta Sans"/>
              </a:rPr>
              <a:t>Consistent Setup:</a:t>
            </a:r>
            <a:r>
              <a:rPr sz="1425" b="0" i="0" u="none">
                <a:solidFill>
                  <a:srgbClr val="2C3E35"/>
                </a:solidFill>
                <a:latin typeface="Plus Jakarta Sans"/>
              </a:rPr>
              <a:t> Docker Compose helps reduce setup differences.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67500" y="3614737"/>
            <a:ext cx="4667250" cy="558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425" b="1" i="0" u="none" dirty="0">
                <a:solidFill>
                  <a:srgbClr val="1E4D38"/>
                </a:solidFill>
                <a:latin typeface="Plus Jakarta Sans"/>
              </a:rPr>
              <a:t>Version Control:</a:t>
            </a:r>
            <a:r>
              <a:rPr sz="1425" b="0" i="0" u="none" dirty="0">
                <a:solidFill>
                  <a:srgbClr val="2C3E35"/>
                </a:solidFill>
                <a:latin typeface="Plus Jakarta Sans"/>
              </a:rPr>
              <a:t> Small Git changes make review and merging easier.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67500" y="4243387"/>
            <a:ext cx="4667250" cy="558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425" b="1" i="0" u="none">
                <a:solidFill>
                  <a:srgbClr val="1E4D38"/>
                </a:solidFill>
                <a:latin typeface="Plus Jakarta Sans"/>
              </a:rPr>
              <a:t>API Design:</a:t>
            </a:r>
            <a:r>
              <a:rPr sz="1425" b="0" i="0" u="none">
                <a:solidFill>
                  <a:srgbClr val="2C3E35"/>
                </a:solidFill>
                <a:latin typeface="Plus Jakarta Sans"/>
              </a:rPr>
              <a:t> Clear request and response formats simplify integration.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67500" y="4872037"/>
            <a:ext cx="4667250" cy="558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425" b="1" i="0" u="none" dirty="0">
                <a:solidFill>
                  <a:srgbClr val="1E4D38"/>
                </a:solidFill>
                <a:latin typeface="Plus Jakarta Sans"/>
              </a:rPr>
              <a:t>Team Coordination:</a:t>
            </a:r>
            <a:r>
              <a:rPr sz="1425" b="0" i="0" u="none" dirty="0">
                <a:solidFill>
                  <a:srgbClr val="2C3E35"/>
                </a:solidFill>
                <a:latin typeface="Plus Jakarta Sans"/>
              </a:rPr>
              <a:t> Clear roles and shared checks improve consistency.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2776538"/>
            <a:ext cx="3479750" cy="2628900"/>
          </a:xfrm>
          <a:prstGeom prst="roundRect">
            <a:avLst>
              <a:gd name="adj" fmla="val 6698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356050" y="2776538"/>
            <a:ext cx="3479750" cy="2628900"/>
          </a:xfrm>
          <a:prstGeom prst="roundRect">
            <a:avLst>
              <a:gd name="adj" fmla="val 6034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8102500" y="2776538"/>
            <a:ext cx="3479750" cy="2628900"/>
          </a:xfrm>
          <a:prstGeom prst="roundRect">
            <a:avLst>
              <a:gd name="adj" fmla="val 6034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6300" y="3119438"/>
            <a:ext cx="533400" cy="5334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22750" y="3119438"/>
            <a:ext cx="533400" cy="5334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69200" y="3119438"/>
            <a:ext cx="533400" cy="5334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4412" y="3271838"/>
            <a:ext cx="257175" cy="2286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75150" y="3271838"/>
            <a:ext cx="228600" cy="2286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93025" y="3271838"/>
            <a:ext cx="285750" cy="2286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0F172A"/>
                </a:solidFill>
                <a:latin typeface="DM Mono"/>
              </a:rPr>
              <a:t>10 • NEXT STEPS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600" y="704850"/>
            <a:ext cx="11582400" cy="4286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1A3D2F"/>
                </a:solidFill>
                <a:latin typeface="Plus Jakarta Sans"/>
              </a:rPr>
              <a:t>Priorities Before Campus Rollout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6300" y="3937000"/>
            <a:ext cx="3175000" cy="2667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650" b="1" i="0" u="none">
                <a:solidFill>
                  <a:srgbClr val="1A3D2F"/>
                </a:solidFill>
                <a:latin typeface="Plus Jakarta Sans"/>
              </a:rPr>
              <a:t>Complete Integration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6300" y="4330700"/>
            <a:ext cx="3175000" cy="825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350" b="0" i="0" u="none">
                <a:solidFill>
                  <a:srgbClr val="2C3E35"/>
                </a:solidFill>
                <a:latin typeface="Plus Jakarta Sans"/>
              </a:rPr>
              <a:t>Align the schema; connect completion records, photos, and feedback.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22750" y="3937000"/>
            <a:ext cx="3175000" cy="2667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650" b="1" i="0" u="none">
                <a:solidFill>
                  <a:srgbClr val="1A3D2F"/>
                </a:solidFill>
                <a:latin typeface="Plus Jakarta Sans"/>
              </a:rPr>
              <a:t>Strengthen Access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22750" y="4330700"/>
            <a:ext cx="3175000" cy="825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350" b="0" i="0" u="none" dirty="0">
                <a:solidFill>
                  <a:srgbClr val="2C3E35"/>
                </a:solidFill>
                <a:latin typeface="Plus Jakarta Sans"/>
              </a:rPr>
              <a:t>Enforce API permissions and remove development account fallbacks.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69200" y="3937000"/>
            <a:ext cx="3175000" cy="2667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650" b="1" i="0" u="none">
                <a:solidFill>
                  <a:srgbClr val="1A3D2F"/>
                </a:solidFill>
                <a:latin typeface="Plus Jakarta Sans"/>
              </a:rPr>
              <a:t>Run a Campus Pilot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69200" y="4330700"/>
            <a:ext cx="3175000" cy="825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350" b="0" i="0" u="none">
                <a:solidFill>
                  <a:srgbClr val="2C3E35"/>
                </a:solidFill>
                <a:latin typeface="Plus Jakarta Sans"/>
              </a:rPr>
              <a:t>Test with campus users; measure usability and repair response times.</a:t>
            </a:r>
          </a:p>
        </p:txBody>
      </p:sp>
      <p:sp>
        <p:nvSpPr>
          <p:cNvPr id="19" name="Context note 19"/>
          <p:cNvSpPr txBox="1"/>
          <p:nvPr/>
        </p:nvSpPr>
        <p:spPr>
          <a:xfrm>
            <a:off x="609600" y="5918200"/>
            <a:ext cx="10972800" cy="304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400" b="0" i="0" u="none">
                <a:solidFill>
                  <a:srgbClr val="2C3E35"/>
                </a:solidFill>
                <a:latin typeface="Plus Jakarta Sans"/>
              </a:rPr>
              <a:t>Campus acceptance and production readiness still require validation.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3D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791200" y="4229100"/>
            <a:ext cx="609600" cy="38100"/>
          </a:xfrm>
          <a:prstGeom prst="rect">
            <a:avLst/>
          </a:prstGeom>
          <a:solidFill>
            <a:srgbClr val="7A9A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89859" y="2057400"/>
            <a:ext cx="3012281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25" b="0" i="0" u="none">
                <a:solidFill>
                  <a:srgbClr val="7A9A8B"/>
                </a:solidFill>
                <a:latin typeface="DM Mono"/>
              </a:rPr>
              <a:t>THANK YOU FOR YOUR TIME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89361" y="2438400"/>
            <a:ext cx="6213276" cy="762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4800" b="1" i="0" u="none">
                <a:solidFill>
                  <a:srgbClr val="FFFFFF"/>
                </a:solidFill>
                <a:latin typeface="Plus Jakarta Sans"/>
              </a:rPr>
              <a:t>Any Questions?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68500" y="3352800"/>
            <a:ext cx="8255000" cy="571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/>
            <a:r>
              <a:rPr sz="1650" b="0" i="0" u="none">
                <a:solidFill>
                  <a:srgbClr val="EBF2EE"/>
                </a:solidFill>
                <a:latin typeface="Plus Jakarta Sans"/>
              </a:rPr>
              <a:t>FixMyCampus — Facility Defect and Maintenance Reporting System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11140" y="4572000"/>
            <a:ext cx="5369718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350" b="0" i="0" u="none" dirty="0">
                <a:solidFill>
                  <a:srgbClr val="DCE7E1"/>
                </a:solidFill>
                <a:latin typeface="DM Mono"/>
              </a:rPr>
              <a:t>Repository: github.com/</a:t>
            </a:r>
            <a:r>
              <a:rPr sz="1350" b="0" i="0" u="none" dirty="0" err="1">
                <a:solidFill>
                  <a:srgbClr val="DCE7E1"/>
                </a:solidFill>
                <a:latin typeface="DM Mono"/>
              </a:rPr>
              <a:t>snybun</a:t>
            </a:r>
            <a:r>
              <a:rPr sz="1350" b="0" i="0" u="none" dirty="0">
                <a:solidFill>
                  <a:srgbClr val="DCE7E1"/>
                </a:solidFill>
                <a:latin typeface="DM Mono"/>
              </a:rPr>
              <a:t>/</a:t>
            </a:r>
            <a:r>
              <a:rPr sz="1350" b="0" i="0" u="none" dirty="0" err="1">
                <a:solidFill>
                  <a:srgbClr val="DCE7E1"/>
                </a:solidFill>
                <a:latin typeface="DM Mono"/>
              </a:rPr>
              <a:t>fixmycampus</a:t>
            </a:r>
            <a:endParaRPr sz="1350" b="0" i="0" u="none" dirty="0">
              <a:solidFill>
                <a:srgbClr val="DCE7E1"/>
              </a:solidFill>
              <a:latin typeface="DM Mono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308</TotalTime>
  <Words>699</Words>
  <Application>Microsoft Office PowerPoint</Application>
  <PresentationFormat>Widescreen</PresentationFormat>
  <Paragraphs>124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Calibri</vt:lpstr>
      <vt:lpstr>Plus Jakarta Sans</vt:lpstr>
      <vt:lpstr>DM Mono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Mark Cerna</cp:lastModifiedBy>
  <cp:revision>4</cp:revision>
  <dcterms:created xsi:type="dcterms:W3CDTF">2013-01-27T09:14:16Z</dcterms:created>
  <dcterms:modified xsi:type="dcterms:W3CDTF">2026-10-28T00:09:18Z</dcterms:modified>
  <cp:category/>
</cp:coreProperties>
</file>